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503"/>
  </p:normalViewPr>
  <p:slideViewPr>
    <p:cSldViewPr snapToGrid="0" snapToObjects="1">
      <p:cViewPr varScale="1">
        <p:scale>
          <a:sx n="126" d="100"/>
          <a:sy n="126" d="100"/>
        </p:scale>
        <p:origin x="232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11F36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49640" y="0"/>
            <a:ext cx="73152" cy="6858000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BEB4"/>
                </a:solidFill>
                <a:latin typeface="Aptos"/>
              </a:rPr>
              <a:t>DENTALVISION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74980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6F9FC"/>
                </a:solidFill>
                <a:latin typeface="Aptos"/>
              </a:rPr>
              <a:t>Automated Tooth Segmentation
for Dental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BD2E0"/>
                </a:solidFill>
                <a:latin typeface="Aptos"/>
              </a:rPr>
              <a:t>Vision Transformer + CNN decoder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675887"/>
            <a:ext cx="6263640" cy="18288"/>
          </a:xfrm>
          <a:prstGeom prst="rect">
            <a:avLst/>
          </a:prstGeom>
          <a:solidFill>
            <a:srgbClr val="394C64"/>
          </a:solidFill>
          <a:ln>
            <a:solidFill>
              <a:srgbClr val="39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BF1"/>
                </a:solidFill>
                <a:latin typeface="Aptos"/>
              </a:rPr>
              <a:t>Abhishek Kumar Singh  •  M23CSA503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98848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7C7"/>
                </a:solidFill>
                <a:latin typeface="Aptos"/>
              </a:rPr>
              <a:t>M.Tech. Artificial Intelligence
Department of Computer Science &amp; Engineering
Indian Institute of Technology Jodhpur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96012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6F9FC"/>
                </a:solidFill>
                <a:latin typeface="Aptos"/>
              </a:rPr>
              <a:t>END-TO-END
SEGMENTATION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240280"/>
            <a:ext cx="2148840" cy="685800"/>
          </a:xfrm>
          <a:prstGeom prst="roundRect">
            <a:avLst/>
          </a:prstGeom>
          <a:solidFill>
            <a:srgbClr val="0A1426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2423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BEB4"/>
                </a:solidFill>
                <a:latin typeface="Aptos"/>
              </a:rPr>
              <a:t>X-RAY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0112" y="294436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9B7C7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291840"/>
            <a:ext cx="2148840" cy="685800"/>
          </a:xfrm>
          <a:prstGeom prst="roundRect">
            <a:avLst/>
          </a:prstGeom>
          <a:solidFill>
            <a:srgbClr val="0A1426"/>
          </a:solidFill>
          <a:ln>
            <a:solidFill>
              <a:srgbClr val="5B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347472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BD2E0"/>
                </a:solidFill>
                <a:latin typeface="Aptos"/>
              </a:rPr>
              <a:t>ViT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112" y="399592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9B7C7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343400"/>
            <a:ext cx="2148840" cy="685800"/>
          </a:xfrm>
          <a:prstGeom prst="roundRect">
            <a:avLst/>
          </a:prstGeom>
          <a:solidFill>
            <a:srgbClr val="0A1426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452628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DCC90"/>
                </a:solidFill>
                <a:latin typeface="Aptos"/>
              </a:rPr>
              <a:t>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66928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dirty="0">
                <a:solidFill>
                  <a:srgbClr val="A9B7C7"/>
                </a:solidFill>
                <a:latin typeface="Aptos"/>
              </a:rPr>
              <a:t>Research &amp; educational prototype
Not clinically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01 •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Why automate tooth segmentation?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949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2EBF1"/>
                </a:solidFill>
                <a:latin typeface="Aptos"/>
              </a:rPr>
              <a:t>Dental X-rays contain rich structural information, but manual identification can be time-consuming and dependent on expert annotation.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205740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BEB4"/>
                </a:solidFill>
                <a:latin typeface="Aptos"/>
              </a:rPr>
              <a:t>MANUAL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93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Expert annotation is
slow and repetitive.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788920"/>
            <a:ext cx="205740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D2E0"/>
                </a:solidFill>
                <a:latin typeface="Aptos"/>
              </a:rP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493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Automated masks provide
a repeatable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788920"/>
            <a:ext cx="205740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80" y="306324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DCC90"/>
                </a:solidFill>
                <a:latin typeface="Aptos"/>
              </a:rPr>
              <a:t>ACCESSIBILITY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493008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"/>
              </a:rPr>
              <a:t>A Streamlit UI makes
inference easy to 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691640"/>
            <a:ext cx="3657600" cy="4069080"/>
          </a:xfrm>
          <a:prstGeom prst="roundRect">
            <a:avLst/>
          </a:prstGeom>
          <a:solidFill>
            <a:srgbClr val="0F2537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20116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BEB4"/>
                </a:solidFill>
                <a:latin typeface="Aptos"/>
              </a:rPr>
              <a:t>PROJECT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42032"/>
            <a:ext cx="28346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6F9FC"/>
                </a:solidFill>
                <a:latin typeface="Aptos"/>
              </a:rPr>
              <a:t>Build an automated tool that
segments teeth in dental X-ray
images and presents the result
through an accessible web 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46177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9B7C7"/>
                </a:solidFill>
                <a:latin typeface="Aptos"/>
              </a:rPr>
              <a:t>Core 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495604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D2E0"/>
                </a:solidFill>
                <a:latin typeface="Aptos"/>
              </a:rPr>
              <a:t>ViT encoder → CNN decoder → binary 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02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011680" cy="141732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6BEB4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6F9FC"/>
                </a:solidFill>
                <a:latin typeface="Aptos"/>
              </a:rPr>
              <a:t>Dental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9736" y="2359152"/>
            <a:ext cx="228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011680" cy="141732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BD2E0"/>
                </a:solidFill>
                <a:latin typeface="Aptos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871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6F9FC"/>
                </a:solidFill>
                <a:latin typeface="Aptos"/>
              </a:rPr>
              <a:t>RGB • 224×224
16×16 patches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359152"/>
            <a:ext cx="228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2011680" cy="141732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6BEB4"/>
                </a:solidFill>
                <a:latin typeface="Aptos"/>
              </a:rPr>
              <a:t>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4871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6F9FC"/>
                </a:solidFill>
                <a:latin typeface="Aptos"/>
              </a:rPr>
              <a:t>ViT
196 patch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359152"/>
            <a:ext cx="228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28800"/>
            <a:ext cx="2011680" cy="141732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BD2E0"/>
                </a:solidFill>
                <a:latin typeface="Aptos"/>
              </a:rPr>
              <a:t>DECODE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4871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6F9FC"/>
                </a:solidFill>
                <a:latin typeface="Aptos"/>
              </a:rPr>
              <a:t>CNN +
upsampling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359152"/>
            <a:ext cx="228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828800"/>
            <a:ext cx="2011680" cy="141732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19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6BEB4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487168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6F9FC"/>
                </a:solidFill>
                <a:latin typeface="Aptos"/>
              </a:rPr>
              <a:t>Binary
segmentation mask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94760"/>
            <a:ext cx="10972800" cy="160020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09651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ABSTRACT IN ONE 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995928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DentalVision demonstrates an end-to-end research prototype for automated tooth-region segmentation, from human-annotated X-rays and model training to interactive Streamlit inference.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01768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9B7C7"/>
                </a:solidFill>
                <a:latin typeface="Aptos"/>
              </a:rPr>
              <a:t>Prototype scope: research / educational — not a clinically validated diagnostic system.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03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7360"/>
            <a:ext cx="5486400" cy="27526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737360"/>
            <a:ext cx="5212080" cy="406908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029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BEB4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16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Humans in the Loop Teeth Segmentation
on Dental X-ray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31012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639312"/>
            <a:ext cx="4343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Panoramic dental X-rays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Human-annotated segmentation masks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Separate image / mask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8920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21208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D2E0"/>
                </a:solidFill>
                <a:latin typeface="Aptos"/>
              </a:rPr>
              <a:t>RGB conversion  •  224 × 224  •  16 × 16 patches  •  binary thresholding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04 •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ViT–CNN segmentation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874519" cy="1143000"/>
          </a:xfrm>
          <a:prstGeom prst="roundRect">
            <a:avLst/>
          </a:prstGeom>
          <a:solidFill>
            <a:srgbClr val="111F36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267712"/>
            <a:ext cx="172821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BEB4"/>
                </a:solidFill>
                <a:latin typeface="Aptos"/>
              </a:rPr>
              <a:t>X-RAY
224×224 RGB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057400"/>
            <a:ext cx="2057400" cy="1143000"/>
          </a:xfrm>
          <a:prstGeom prst="roundRect">
            <a:avLst/>
          </a:prstGeom>
          <a:solidFill>
            <a:srgbClr val="111F36"/>
          </a:solidFill>
          <a:ln>
            <a:solidFill>
              <a:srgbClr val="5B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2267712"/>
            <a:ext cx="19110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D2E0"/>
                </a:solidFill>
                <a:latin typeface="Aptos"/>
              </a:rPr>
              <a:t>PATCHIFY
16×16 patches
196 + 1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057400"/>
            <a:ext cx="2057400" cy="1143000"/>
          </a:xfrm>
          <a:prstGeom prst="roundRect">
            <a:avLst/>
          </a:prstGeom>
          <a:solidFill>
            <a:srgbClr val="111F36"/>
          </a:solidFill>
          <a:ln>
            <a:solidFill>
              <a:srgbClr val="EBB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0952" y="2267712"/>
            <a:ext cx="19110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BB852"/>
                </a:solidFill>
                <a:latin typeface="Aptos"/>
              </a:rPr>
              <a:t>ViT ENCODER
6 layers
hidden size 768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057400"/>
            <a:ext cx="1965960" cy="1143000"/>
          </a:xfrm>
          <a:prstGeom prst="roundRect">
            <a:avLst/>
          </a:prstGeom>
          <a:solidFill>
            <a:srgbClr val="111F36"/>
          </a:solidFill>
          <a:ln>
            <a:solidFill>
              <a:srgbClr val="5B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2267712"/>
            <a:ext cx="181965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D2E0"/>
                </a:solidFill>
                <a:latin typeface="Aptos"/>
              </a:rPr>
              <a:t>RESHAPE
14×14 feature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057400"/>
            <a:ext cx="1600200" cy="1143000"/>
          </a:xfrm>
          <a:prstGeom prst="roundRect">
            <a:avLst/>
          </a:prstGeom>
          <a:solidFill>
            <a:srgbClr val="111F36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31552" y="2267712"/>
            <a:ext cx="14538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CC90"/>
                </a:solidFill>
                <a:latin typeface="Aptos"/>
              </a:rPr>
              <a:t>CNN
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4323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4323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4323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4323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886200"/>
            <a:ext cx="4754880" cy="1143000"/>
          </a:xfrm>
          <a:prstGeom prst="roundRect">
            <a:avLst/>
          </a:prstGeom>
          <a:solidFill>
            <a:srgbClr val="0F3030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86200" y="422452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CC90"/>
                </a:solidFill>
                <a:latin typeface="Aptos"/>
              </a:rPr>
              <a:t>SIGMOID + THRESHOLD 0.5  →  ONE-CHANNEL BINARY MASK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864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Decoder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440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BF1"/>
                </a:solidFill>
                <a:latin typeface="Aptos"/>
              </a:rPr>
              <a:t>Conv2D  •  ReLU  •  ConvTranspose2D  •  upsampling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44068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dirty="0">
                <a:solidFill>
                  <a:srgbClr val="A9B7C7"/>
                </a:solidFill>
                <a:latin typeface="Aptos"/>
              </a:rPr>
              <a:t>Class token is removed before spatial reconstruction.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05 •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Training &amp; 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194560" cy="12344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64008" cy="1234440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BCE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Loss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783080"/>
            <a:ext cx="2194560" cy="12344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64008" cy="1234440"/>
          </a:xfrm>
          <a:prstGeom prst="rect">
            <a:avLst/>
          </a:prstGeom>
          <a:solidFill>
            <a:srgbClr val="5BD2E0"/>
          </a:solidFill>
          <a:ln>
            <a:solidFill>
              <a:srgbClr val="5B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98424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Adam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8775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Optimizer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783080"/>
            <a:ext cx="2194560" cy="12344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49240" y="1783080"/>
            <a:ext cx="64008" cy="1234440"/>
          </a:xfrm>
          <a:prstGeom prst="rect">
            <a:avLst/>
          </a:prstGeom>
          <a:solidFill>
            <a:srgbClr val="EBB852"/>
          </a:solidFill>
          <a:ln>
            <a:solidFill>
              <a:srgbClr val="EBB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98424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1e−4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58775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Learning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83080"/>
            <a:ext cx="2194560" cy="12344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26679" y="1783080"/>
            <a:ext cx="64008" cy="1234440"/>
          </a:xfrm>
          <a:prstGeom prst="rect">
            <a:avLst/>
          </a:prstGeom>
          <a:solidFill>
            <a:srgbClr val="5DCC90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198424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587752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Batch size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29000"/>
            <a:ext cx="4572000" cy="19202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7033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ABSTRACT / PROJECT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9651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E2EBF1"/>
                </a:solidFill>
                <a:latin typeface="Aptos"/>
              </a:defRPr>
            </a:pPr>
            <a:r>
              <a:t>•  80/20 train–validation split</a:t>
            </a:r>
          </a:p>
          <a:p>
            <a:pPr>
              <a:spcAft>
                <a:spcPts val="500"/>
              </a:spcAft>
              <a:defRPr sz="1300">
                <a:solidFill>
                  <a:srgbClr val="E2EBF1"/>
                </a:solidFill>
                <a:latin typeface="Aptos"/>
              </a:defRPr>
            </a:pPr>
            <a:r>
              <a:t>•  Maximum 50 epochs</a:t>
            </a:r>
          </a:p>
          <a:p>
            <a:pPr>
              <a:spcAft>
                <a:spcPts val="500"/>
              </a:spcAft>
              <a:defRPr sz="1300">
                <a:solidFill>
                  <a:srgbClr val="E2EBF1"/>
                </a:solidFill>
                <a:latin typeface="Aptos"/>
              </a:defRPr>
            </a:pPr>
            <a:r>
              <a:t>•  Best validation Dice checkpoint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3429000"/>
            <a:ext cx="6126480" cy="19202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0" y="3703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D2E0"/>
                </a:solidFill>
                <a:latin typeface="Aptos"/>
              </a:rPr>
              <a:t>REPORT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0965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E2EBF1"/>
                </a:solidFill>
                <a:latin typeface="Aptos"/>
              </a:defRPr>
            </a:pPr>
            <a:r>
              <a:t>•  80/20 train–validation split</a:t>
            </a:r>
          </a:p>
          <a:p>
            <a:pPr>
              <a:spcAft>
                <a:spcPts val="500"/>
              </a:spcAft>
              <a:defRPr sz="1300">
                <a:solidFill>
                  <a:srgbClr val="E2EBF1"/>
                </a:solidFill>
                <a:latin typeface="Aptos"/>
              </a:defRPr>
            </a:pPr>
            <a:r>
              <a:t>•  5 epochs</a:t>
            </a:r>
          </a:p>
          <a:p>
            <a:pPr>
              <a:spcAft>
                <a:spcPts val="500"/>
              </a:spcAft>
              <a:defRPr sz="1300">
                <a:solidFill>
                  <a:srgbClr val="E2EBF1"/>
                </a:solidFill>
                <a:latin typeface="Aptos"/>
              </a:defRPr>
            </a:pPr>
            <a:r>
              <a:t>•  Batch size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9B7C7"/>
                </a:solidFill>
                <a:latin typeface="Aptos"/>
              </a:rPr>
              <a:t>Source materials contain these two configuration descriptions; the presentation keeps them explicit rather than silently reconciling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06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Segmentation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971800" cy="150876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64008" cy="1508760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0.82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2606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IoU • Intersection over Union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783080"/>
            <a:ext cx="2971800" cy="150876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39" y="1783080"/>
            <a:ext cx="64008" cy="1508760"/>
          </a:xfrm>
          <a:prstGeom prst="rect">
            <a:avLst/>
          </a:prstGeom>
          <a:solidFill>
            <a:srgbClr val="5DCC90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19842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0.89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87752"/>
            <a:ext cx="2606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Dice coefficient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783080"/>
            <a:ext cx="4663440" cy="150876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REPORTED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F9FC"/>
                </a:solidFill>
                <a:latin typeface="Aptos"/>
              </a:rPr>
              <a:t>Accurate mask overlays on unseen X-rays</a:t>
            </a:r>
          </a:p>
        </p:txBody>
      </p:sp>
      <p:pic>
        <p:nvPicPr>
          <p:cNvPr id="17" name="Picture 16" descr="fig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57600"/>
            <a:ext cx="5486400" cy="27526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" y="58704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9B7C7"/>
                </a:solidFill>
                <a:latin typeface="Aptos"/>
              </a:rPr>
              <a:t>Input panoramic X-ray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8704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9B7C7"/>
                </a:solidFill>
                <a:latin typeface="Aptos"/>
              </a:rPr>
              <a:t>Predicted binary 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919EBA-2AA7-FED9-F64F-6FFDDB48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40" y="3657600"/>
            <a:ext cx="4851400" cy="2661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07 •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From trained model to interactive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057400" cy="1508760"/>
          </a:xfrm>
          <a:prstGeom prst="roundRect">
            <a:avLst/>
          </a:prstGeom>
          <a:solidFill>
            <a:srgbClr val="111F36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BEB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6F9FC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9B7C7"/>
                </a:solidFill>
                <a:latin typeface="Aptos"/>
              </a:rPr>
              <a:t>JPG / 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59152"/>
            <a:ext cx="228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2057400" cy="1508760"/>
          </a:xfrm>
          <a:prstGeom prst="roundRect">
            <a:avLst/>
          </a:prstGeom>
          <a:solidFill>
            <a:srgbClr val="111F36"/>
          </a:solidFill>
          <a:ln>
            <a:solidFill>
              <a:srgbClr val="5B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20299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D2E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0116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6F9FC"/>
                </a:solidFill>
                <a:latin typeface="Aptos"/>
              </a:rPr>
              <a:t>INFER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51460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9B7C7"/>
                </a:solidFill>
                <a:latin typeface="Aptos"/>
              </a:rPr>
              <a:t>ViT–CNN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59152"/>
            <a:ext cx="228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B7C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828800"/>
            <a:ext cx="2057400" cy="1508760"/>
          </a:xfrm>
          <a:prstGeom prst="roundRect">
            <a:avLst/>
          </a:prstGeom>
          <a:solidFill>
            <a:srgbClr val="111F36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0299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DCC9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6F9FC"/>
                </a:solidFill>
                <a:latin typeface="Aptos"/>
              </a:rPr>
              <a:t>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51460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9B7C7"/>
                </a:solidFill>
                <a:latin typeface="Aptos"/>
              </a:rPr>
              <a:t>Predicted mask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886200"/>
            <a:ext cx="3291840" cy="1554480"/>
          </a:xfrm>
          <a:prstGeom prst="roundRect">
            <a:avLst/>
          </a:prstGeom>
          <a:solidFill>
            <a:srgbClr val="0F3030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4187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6BEB4"/>
                </a:solidFill>
                <a:latin typeface="Aptos"/>
              </a:rPr>
              <a:t>LIVE STREAMLIT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64515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6F9FC"/>
                </a:solidFill>
                <a:latin typeface="Aptos"/>
              </a:rPr>
              <a:t>dentalvision-vitonet.streamlit.app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6052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BF1"/>
                </a:solidFill>
                <a:latin typeface="Aptos"/>
              </a:rPr>
              <a:t>Model checkpoint: vit_teeth_segmentation.pth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45152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9B7C7"/>
                </a:solidFill>
                <a:latin typeface="Aptos"/>
              </a:rPr>
              <a:t>The selected model is loaded for prediction and the app displays the resulting mask.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9612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D2E0"/>
                </a:solidFill>
                <a:latin typeface="Aptos"/>
              </a:rPr>
              <a:t>GitHub: github.com/akshziitj/dentalvision-vitonet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08 •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Project structure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6035040" cy="406908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303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BF1"/>
                </a:solidFill>
                <a:latin typeface="Consolas"/>
              </a:rPr>
              <a:t>dentalvision-vitonet/
├── model/
│   └── vit_teeth_segmentation.pth
├── sample_data/
│   ├── sample_image_01.jpg
│   └── sample_result.jpg
├── DentalVision_CV_Project.ipynb
├── streamlit_app.py
├── utils.py
├── requirements.txt
└── README.md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783080"/>
            <a:ext cx="4572000" cy="406908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2057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D2E0"/>
                </a:solidFill>
                <a:latin typeface="Aptos"/>
              </a:rPr>
              <a:t>REPRODUCIBILITY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51460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Training notebook captures the pipeline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Saved checkpoint supports repeatable inference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requirements.txt defines Python dependencies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Streamlit app provides a simple delivery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50749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B7C7"/>
                </a:solidFill>
                <a:latin typeface="Aptos"/>
              </a:rPr>
              <a:t>Model + data + UI are separated into clear project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09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6F9FC"/>
                </a:solidFill>
                <a:latin typeface="Aptos"/>
              </a:rPr>
              <a:t>What should improve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9B7C7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914400" cy="36576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303520" cy="420624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6767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Research / educational prototype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No clinically validated diagnostic claim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Need a separate held-out test set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Spatial reconstruction can be improved</a:t>
            </a:r>
          </a:p>
          <a:p>
            <a:pPr>
              <a:spcAft>
                <a:spcPts val="500"/>
              </a:spcAft>
              <a:defRPr sz="1400">
                <a:solidFill>
                  <a:srgbClr val="E2EBF1"/>
                </a:solidFill>
                <a:latin typeface="Aptos"/>
              </a:defRPr>
            </a:pPr>
            <a:r>
              <a:t>•  Uncertainty is not yet visualized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94960" cy="4206240"/>
          </a:xfrm>
          <a:prstGeom prst="roundRect">
            <a:avLst/>
          </a:prstGeom>
          <a:solidFill>
            <a:srgbClr val="0F3030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84831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CC90"/>
                </a:solidFill>
                <a:latin typeface="Aptos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42032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E2EBF1"/>
                </a:solidFill>
                <a:latin typeface="Aptos"/>
              </a:defRPr>
            </a:pPr>
            <a:r>
              <a:t>•  Instance segmentation for individual teeth</a:t>
            </a:r>
          </a:p>
          <a:p>
            <a:pPr>
              <a:spcAft>
                <a:spcPts val="500"/>
              </a:spcAft>
              <a:defRPr sz="1350">
                <a:solidFill>
                  <a:srgbClr val="E2EBF1"/>
                </a:solidFill>
                <a:latin typeface="Aptos"/>
              </a:defRPr>
            </a:pPr>
            <a:r>
              <a:t>•  Anomaly detection: cavities / missing teeth</a:t>
            </a:r>
          </a:p>
          <a:p>
            <a:pPr>
              <a:spcAft>
                <a:spcPts val="500"/>
              </a:spcAft>
              <a:defRPr sz="1350">
                <a:solidFill>
                  <a:srgbClr val="E2EBF1"/>
                </a:solidFill>
                <a:latin typeface="Aptos"/>
              </a:defRPr>
            </a:pPr>
            <a:r>
              <a:t>•  REST API for clinical integration</a:t>
            </a:r>
          </a:p>
          <a:p>
            <a:pPr>
              <a:spcAft>
                <a:spcPts val="500"/>
              </a:spcAft>
              <a:defRPr sz="1350">
                <a:solidFill>
                  <a:srgbClr val="E2EBF1"/>
                </a:solidFill>
                <a:latin typeface="Aptos"/>
              </a:defRPr>
            </a:pPr>
            <a:r>
              <a:t>•  Compare against standard U-Net baselines</a:t>
            </a:r>
          </a:p>
          <a:p>
            <a:pPr>
              <a:spcAft>
                <a:spcPts val="500"/>
              </a:spcAft>
              <a:defRPr sz="1350">
                <a:solidFill>
                  <a:srgbClr val="E2EBF1"/>
                </a:solidFill>
                <a:latin typeface="Aptos"/>
              </a:defRPr>
            </a:pPr>
            <a:r>
              <a:t>•  Explore Swin Transformer or SAM</a:t>
            </a:r>
          </a:p>
          <a:p>
            <a:pPr>
              <a:spcAft>
                <a:spcPts val="500"/>
              </a:spcAft>
              <a:defRPr sz="1350">
                <a:solidFill>
                  <a:srgbClr val="E2EBF1"/>
                </a:solidFill>
                <a:latin typeface="Aptos"/>
              </a:defRPr>
            </a:pPr>
            <a:r>
              <a:t>•  Investigate hybrid quantum-classical / QUBO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9B7C7"/>
                </a:solidFill>
                <a:latin typeface="Aptos"/>
              </a:rPr>
              <a:t>DentalVision • ViT-based tooth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A9B7C7"/>
                </a:solidFill>
                <a:latin typeface="Aptos"/>
              </a:rPr>
              <a:t>IIT Jodhpur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BEB4"/>
                </a:solidFill>
                <a:latin typeface="Aptos"/>
              </a:rPr>
              <a:t>DENTALVISION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6F9FC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8869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2EBF1"/>
                </a:solidFill>
                <a:latin typeface="Aptos"/>
              </a:rPr>
              <a:t>A compact ViT–CNN pipeline can turn panoramic dental X-rays into useful binary tooth-region masks, with a practical Streamlit interface for interactive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069080"/>
            <a:ext cx="2240280" cy="128016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4069080"/>
            <a:ext cx="64008" cy="1280160"/>
          </a:xfrm>
          <a:prstGeom prst="rect">
            <a:avLst/>
          </a:prstGeom>
          <a:solidFill>
            <a:srgbClr val="26BEB4"/>
          </a:solidFill>
          <a:ln>
            <a:solidFill>
              <a:srgbClr val="26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4270248"/>
            <a:ext cx="1874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0.82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873752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IoU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4069080"/>
            <a:ext cx="2240280" cy="128016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4069080"/>
            <a:ext cx="64008" cy="1280160"/>
          </a:xfrm>
          <a:prstGeom prst="rect">
            <a:avLst/>
          </a:prstGeom>
          <a:solidFill>
            <a:srgbClr val="5DCC90"/>
          </a:solidFill>
          <a:ln>
            <a:solidFill>
              <a:srgbClr val="5D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4270248"/>
            <a:ext cx="1874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9FC"/>
                </a:solidFill>
                <a:latin typeface="Aptos"/>
              </a:rPr>
              <a:t>0.89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873752"/>
            <a:ext cx="1874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9B7C7"/>
                </a:solidFill>
                <a:latin typeface="Aptos"/>
              </a:rPr>
              <a:t>Dice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4069080"/>
            <a:ext cx="5257800" cy="1280160"/>
          </a:xfrm>
          <a:prstGeom prst="roundRect">
            <a:avLst/>
          </a:prstGeom>
          <a:solidFill>
            <a:srgbClr val="111F36"/>
          </a:solidFill>
          <a:ln>
            <a:solidFill>
              <a:srgbClr val="2B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4370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6BEB4"/>
                </a:solidFill>
                <a:latin typeface="Aptos"/>
              </a:rPr>
              <a:t>RESEARCH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736592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F9FC"/>
                </a:solidFill>
                <a:latin typeface="Aptos"/>
              </a:rPr>
              <a:t>Clear path toward stronger validation and clinical-grade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897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5BD2E0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6309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7C7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a9c6bc5-92dc-4cf8-8aa7-3508258fbd06}" enabled="1" method="Standard" siteId="{57368c21-b8cf-42cf-bd0b-43ecd4bc62a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829</Words>
  <Application>Microsoft Macintosh PowerPoint</Application>
  <PresentationFormat>Widescreen</PresentationFormat>
  <Paragraphs>179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DentalVision: Automated Tooth Segmentation for Dental Diagnostics</dc:title>
  <dc:subject>Vision Transformer based dental X-ray segmentation project</dc:subject>
  <dc:creator>Abhishek Kumar Singh</dc:creator>
  <cp:keywords>DentalVision, Vision Transformer, tooth segmentation, dental X-ray, ViT, CNN</cp:keywords>
  <dc:description>generated using python-pptx</dc:description>
  <cp:lastModifiedBy>Abhishek Singh (Digital Technology IT-Infra-Global Hosting)</cp:lastModifiedBy>
  <cp:revision>3</cp:revision>
  <dcterms:created xsi:type="dcterms:W3CDTF">2013-01-27T09:14:16Z</dcterms:created>
  <dcterms:modified xsi:type="dcterms:W3CDTF">2026-08-27T01:18:33Z</dcterms:modified>
  <cp:category/>
</cp:coreProperties>
</file>